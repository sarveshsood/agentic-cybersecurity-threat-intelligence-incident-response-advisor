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Cybersecurity Threat Intelligence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Incident Response Advisor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 AI IR advisor  ·  Hybrid RAG  ·  Investigation workspace  ·  Offline golden eval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Certification Programme in Agentic and Generative 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TalentSprint / IISc track  ·  26 July 2026  ·  Enterprise Pilot Ready (78/100)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alert overload without grounded IR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91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556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overload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EDR / cloud sensors outpace manual triage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691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7556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16916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IR steps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2194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extract → TI → ATT&amp;CK → playbook is slow &amp; inconsistent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886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502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8862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risk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43891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LLMs lack citations, audit trail, and formal human gates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3886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9502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38862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delay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32320" y="43891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response quality under fatigue and time pressure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non-goals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scope for evaluators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5669280" cy="4754880"/>
          </a:xfrm>
          <a:prstGeom prst="roundRect">
            <a:avLst>
              <a:gd name="adj" fmla="val 1538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Automate parse → IoC → TI → ATT&amp;CK → RAG playbook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Human-in-the-loop for critical / low-grounding cases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Investigation workspace as case system of record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931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Offline golden IR evaluation (CI gates)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572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RBAC, vault, audit integrity, compliance alignment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1508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NON-GOALS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 a Sentinel / Splunk / Falcon replacement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2651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 multi-tenant SaaS isolation (v1)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3291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 unsupervised SOAR execution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 formal ISO/SOC2 certification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4572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 500-user scale certification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 AI IR advisor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logs → parse → IoC → TI → ATT&amp;CK → hybrid RAG → playbook → HiTL → workspace → audit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194560" cy="256032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+ jobs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88920" y="1965960"/>
            <a:ext cx="2194560" cy="256032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26080" y="31546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+ TI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live/mock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1965960"/>
            <a:ext cx="2194560" cy="256032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5780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57800" y="31546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1965960"/>
            <a:ext cx="2194560" cy="256032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89520" y="31546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84080" y="1965960"/>
            <a:ext cx="2194560" cy="256032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92124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92124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921240" y="31546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Personas: Analyst  ·  Senior Reviewer  ·  Admin  ·  Executive (demo)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5257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complements SIEM dual-run — does not replace the platform of record.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· dual API · pilot-ready packaging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3716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371600"/>
            <a:ext cx="137160" cy="914400"/>
          </a:xfrm>
          <a:prstGeom prst="roundRect">
            <a:avLst>
              <a:gd name="adj" fmla="val 26667"/>
            </a:avLst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14447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18288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console · Workspace · Settings · Compliance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46888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2468880"/>
            <a:ext cx="137160" cy="914400"/>
          </a:xfrm>
          <a:prstGeom prst="roundRect">
            <a:avLst>
              <a:gd name="adj" fmla="val 26667"/>
            </a:avLst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254203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(/api  +  /api/v1)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2926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Jobs · Pipeline · Review · Hunt · LLM · Audit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356616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3566160"/>
            <a:ext cx="137160" cy="914400"/>
          </a:xfrm>
          <a:prstGeom prst="roundRect">
            <a:avLst>
              <a:gd name="adj" fmla="val 26667"/>
            </a:avLst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1783080" y="36393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+  LanceDB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83080" y="4023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/ users / audit  ·  Hybrid BM25 + vectors (RRF)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466344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4663440"/>
            <a:ext cx="137160" cy="914400"/>
          </a:xfrm>
          <a:prstGeom prst="roundRect">
            <a:avLst>
              <a:gd name="adj" fmla="val 26667"/>
            </a:avLst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1783080" y="4736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(optional)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83080" y="51206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 ·  AbuseIPDB / VT / TI  ·  Slack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RAG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playbooks with measurable offline gates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LanceDB dense vectors fused with RRF; optional re-rank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grounding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citation_ids ⊆ KB allow-list; grounding score 0–1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NIST-style phases; resilient parse_llm_json for noisy LLM output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92608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LLM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3566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Free/paid catalog; cross-provider fallback; template last resort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5166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severity or low grounding → pending_review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52628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4754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5166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agentic pipeline stages — not a full LangGraph swarm product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&amp; ATT&amp;CK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+ technique mapping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&amp; TI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Extract IP / domain / URL / hash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Filter private IPs from public enrich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Live: AbuseIPDB, VT, GreyNoise, 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Mock default without keys (demo-safe)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FORCE_MOCK_TI for deterministic tests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2194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Heuristic keyword / pattern mapping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7889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Technique filters on incident list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383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Dashboard heatmap of prevalence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9776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Timeline + RCA for kill-chain narrative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4572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Not full STIX/TAXII enterprise sync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workspace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a single case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28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14630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828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1828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0" y="14630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1828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0" y="14630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92640" y="1828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200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0" y="28346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834640" y="3200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0" y="28346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3200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0" y="28346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06640" y="3200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0" y="28346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92640" y="3200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tab state (?tab=)  ·  Notes with audit  ·  SSE AI investigator  ·  Similar cases API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errors and 404s surface explicit UI (no infinite spinner) — critical for analyst trust.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controls with honest compliance language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senior_reviewer · admin matrix on mutate paths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2286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JWT · lockout after failures · weak secret refused outside lab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2286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encrypt-at-rest; never returned raw from Settings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" y="4572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integrity · summary &amp; export for executives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0" y="3657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2628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26280" y="4572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score + gaps + evidence — not certification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3657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6676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safety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6760" y="4572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bomb limits · pipeline isolation on bad files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offline IR suite — 26 July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402336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7432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cases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IoC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technique 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grounding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phase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latency (offline)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7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errors / gate failures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[]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unit · RBAC · pipeline isolation · Playwright smoke  ·  Live LLM quality not gated offline (honest limit)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demo 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path — see DEMO_SCRIPT.md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011680"/>
            <a:ext cx="1600200" cy="2926080"/>
          </a:xfrm>
          <a:prstGeom prst="roundRect">
            <a:avLst>
              <a:gd name="adj" fmla="val 457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77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/ reviewer roles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57400" y="2011680"/>
            <a:ext cx="1600200" cy="2926080"/>
          </a:xfrm>
          <a:prstGeom prst="roundRect">
            <a:avLst>
              <a:gd name="adj" fmla="val 457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228600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377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48840" y="3108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37033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log package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2011680"/>
            <a:ext cx="1600200" cy="2926080"/>
          </a:xfrm>
          <a:prstGeom prst="roundRect">
            <a:avLst>
              <a:gd name="adj" fmla="val 457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228600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2377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3108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37033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workspace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40680" y="2011680"/>
            <a:ext cx="1600200" cy="2926080"/>
          </a:xfrm>
          <a:prstGeom prst="roundRect">
            <a:avLst>
              <a:gd name="adj" fmla="val 457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0" y="228600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2377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3108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37033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· graph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2011680"/>
            <a:ext cx="1600200" cy="2926080"/>
          </a:xfrm>
          <a:prstGeom prst="roundRect">
            <a:avLst>
              <a:gd name="adj" fmla="val 457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35240" y="228600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7635240" y="2377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23760" y="3108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23760" y="37033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· score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23960" y="2011680"/>
            <a:ext cx="1600200" cy="2926080"/>
          </a:xfrm>
          <a:prstGeom prst="roundRect">
            <a:avLst>
              <a:gd name="adj" fmla="val 457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326880" y="228600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0" y="2377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15400" y="3108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15400" y="37033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+ comment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515600" y="2011680"/>
            <a:ext cx="1600200" cy="2926080"/>
          </a:xfrm>
          <a:prstGeom prst="roundRect">
            <a:avLst>
              <a:gd name="adj" fmla="val 457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018520" y="228600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11018520" y="2377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607040" y="3108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607040" y="37033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audit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fit + pilot readiness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board score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Ready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880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IoC F1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offline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4652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recall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offline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35440" y="137160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7260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37260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18320" y="2880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3434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narrative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8006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time-to-first playbook vs pure manual IR  ·  Traceable citations  ·  Reproducible offline eval  ·  React workspace exceeds Gradio baseline  ·  Wave C compliance + audit export for executives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Project 4 challenge list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4754880"/>
        </p:xfrm>
        <a:graphic>
          <a:graphicData uri="http://schemas.openxmlformats.org/drawingml/2006/table">
            <a:tbl>
              <a:tblPr/>
              <a:tblGrid>
                <a:gridCol w="3657600"/>
                <a:gridCol w="7589520"/>
              </a:tblGrid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volume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+ ZIP limits (not real-time SIEM)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 ATT&amp;CK + HiTL + timeline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score + review queue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 cost / keys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default + multi-vendor vault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Citations allow-list + templates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coordination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· claim · audit trail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 to production path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17320"/>
            <a:ext cx="2788920" cy="4572000"/>
          </a:xfrm>
          <a:prstGeom prst="roundRect">
            <a:avLst>
              <a:gd name="adj" fmla="val 262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Demo video + screenshots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2918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Login marketing honesty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114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Analytics error polish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788920" cy="4572000"/>
          </a:xfrm>
          <a:prstGeom prst="roundRect">
            <a:avLst>
              <a:gd name="adj" fmla="val 262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release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SSO JWKS hardening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2918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rate limits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4114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E2E expansion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417320"/>
            <a:ext cx="2788920" cy="4572000"/>
          </a:xfrm>
          <a:prstGeom prst="roundRect">
            <a:avLst>
              <a:gd name="adj" fmla="val 262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4688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Multi-tenant design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2918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SIEM connectors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4114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Commercial pilot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89720" y="1417320"/>
            <a:ext cx="2788920" cy="4572000"/>
          </a:xfrm>
          <a:prstGeom prst="roundRect">
            <a:avLst>
              <a:gd name="adj" fmla="val 262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7260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72600" y="24688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Gated SOAR actions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72600" y="32918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Forensics agent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4114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RAGAS board metrics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objectives met — and exceeded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End-to-end AI IR advisor: ingest → enrich → ATT&amp;CK → grounded playbook → HiTL → workspace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331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Exceeds Gradio baseline with React SOC UI, compliance alignment, audit integrity, golden CI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Strong offline metrics (IoC F1 0.98, technique recall 0.93) with honest evaluation limits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160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Enterprise Pilot Ready at 78/100 — not multi-tenant SIEM/XDR replacement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Ethical stance: advisory AI with human accountability for high-risk 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Pack: docs/capstone/  ·  Report: PROJECT_REPORT.md  ·  Appendices: appendices/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PPT: presentation/  ·  Board: board/CAPSTONE_BOARD_REVIEW_AND_SUBMISSION.md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competitive positioning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claim SIEM replacement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475488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834640"/>
                <a:gridCol w="2743200"/>
              </a:tblGrid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 / XDR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IR playbooks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+ citations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Playbooks / SOAR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/ no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golden 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gated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for IR NLP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lake / connectors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 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modular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suites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tech stack &amp; pack index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artifacts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Python · FastAPI · Pydantic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React SPA · Recharts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MongoDB · LanceDB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Multi-provider LLMs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pytest · Playwright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Docker Compose · Helm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docs/capstone/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PROJECT_REPORT.md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presentation/*.pptx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appendices/A–F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board/CAPSTONE_BOARD…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4114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outlines + PPT_OUTLINE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4617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assets/screenshots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ACTIRA  ·  Capstone Project 4  ·  Confidential for evaluation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ACTIRA — Capstone Project 4</dc:title>
  <dc:subject>Agentic Cybersecurity Threat Intelligence &amp; Incident Response Advisor</dc:subject>
  <dc:creator>ACTIRA Capstone Team</dc:creator>
  <cp:lastModifiedBy>ACTIRA Capstone Team</cp:lastModifiedBy>
  <cp:revision>1</cp:revision>
  <dcterms:created xsi:type="dcterms:W3CDTF">2026-07-26T12:36:36Z</dcterms:created>
  <dcterms:modified xsi:type="dcterms:W3CDTF">2026-07-26T12:36:36Z</dcterms:modified>
</cp:coreProperties>
</file>